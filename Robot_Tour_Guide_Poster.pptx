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d873039e1439a" /><Relationship Type="http://schemas.openxmlformats.org/officeDocument/2006/relationships/extended-properties" Target="/docProps/app.xml" Id="Rb8521a1862d1478a" /><Relationship Type="http://schemas.openxmlformats.org/officeDocument/2006/relationships/officeDocument" Target="/ppt/presentation.xml" Id="R66d764c4cef945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39d60a7ce4fe1"/>
  </p:sldMasterIdLst>
  <p:notesMasterIdLst>
    <p:notesMasterId xmlns:r="http://schemas.openxmlformats.org/officeDocument/2006/relationships" r:id="Rb1aeaa35cf034614"/>
  </p:notesMasterIdLst>
  <p:sldIdLst>
    <p:sldId xmlns:r="http://schemas.openxmlformats.org/officeDocument/2006/relationships" id="256" r:id="R33d093d64be34390"/>
  </p:sldIdLst>
  <p:sldSz cx="12192000" cy="9144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39d60a7ce4fe1" /><Relationship Type="http://schemas.openxmlformats.org/officeDocument/2006/relationships/theme" Target="/ppt/theme/theme1.xml" Id="R1356e0ce2c564d37" /><Relationship Type="http://schemas.openxmlformats.org/officeDocument/2006/relationships/notesMaster" Target="/ppt/notesMasters/notesMaster1.xml" Id="Rb1aeaa35cf034614" /><Relationship Type="http://schemas.openxmlformats.org/officeDocument/2006/relationships/presProps" Target="/ppt/presProps.xml" Id="R323ea73dba2b4f63" /><Relationship Type="http://schemas.openxmlformats.org/officeDocument/2006/relationships/viewProps" Target="/ppt/viewProps.xml" Id="Rb0c3a128fb3e4678" /><Relationship Type="http://schemas.openxmlformats.org/officeDocument/2006/relationships/tableStyles" Target="/ppt/tableStyles.xml" Id="R0d8f6911be3c4b13" /><Relationship Type="http://schemas.openxmlformats.org/officeDocument/2006/relationships/slide" Target="/ppt/slides/slide1.xml" Id="R33d093d64be343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aabcdf985c5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4ffe46f2d4073" /><Relationship Type="http://schemas.openxmlformats.org/officeDocument/2006/relationships/notesMaster" Target="/ppt/notesMasters/notesMaster1.xml" Id="R3a79b7376cab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7d9f0cd744e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5d1ca8d12d647c8" /><Relationship Type="http://schemas.openxmlformats.org/officeDocument/2006/relationships/slideLayout" Target="/ppt/slideLayouts/slideLayout2.xml" Id="R86cc54595a8a4e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c54595a8a4e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63874ed9b84105" /><Relationship Type="http://schemas.openxmlformats.org/officeDocument/2006/relationships/notesSlide" Target="/ppt/notesSlides/notesSlide1.xml" Id="R3c1b8013d6bf4c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70FAF-EE14-457A-9751-3B712B91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E0877-A8D1-4FEA-867E-6A34C80D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03999-683B-42B9-A8F2-BF649924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3825"/>
            <a:ext cx="1005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Hybrid ROS 2 Architecture for a TurtleBot 4 Robot Tour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EF66D-A35E-4A74-A92A-32A4E2C1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10058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Landmark recognition + deliberative tour planning + classified recovery for indoor tours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E629D-9129-4DF2-B84E-9D214DC8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Robot Tour Guide Team | OU TurtleBot 4 | ROS 2 Jazzy + Gazebo Harmonic | Nav2 + OpenCV ArUco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54F6A-6EC1-4674-AF1F-E9577C3D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71450"/>
            <a:ext cx="742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65BD2-653B-478A-B591-FBDDDE5E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7650"/>
            <a:ext cx="609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OU</a:t>
            </a:r>
          </a:p>
          <a:p xmlns:a="http://schemas.openxmlformats.org/drawingml/2006/main">
            <a:pPr algn="ctr">
              <a:defRPr sz="900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TurtleBot</a:t>
            </a:r>
          </a:p>
          <a:p xmlns:a="http://schemas.openxmlformats.org/drawingml/2006/main">
            <a:pPr algn="ctr">
              <a:defRPr sz="900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Tour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6D01F-D096-4D35-8ABF-4F27B397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1450"/>
            <a:ext cx="742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AC7BB-273E-40E0-BCF1-1F79B897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57175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HYBRID</a:t>
            </a:r>
          </a:p>
          <a:p xmlns:a="http://schemas.openxmlformats.org/drawingml/2006/main">
            <a:pPr algn="ctr">
              <a:defRPr sz="788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ROBOTICS</a:t>
            </a:r>
          </a:p>
          <a:p xmlns:a="http://schemas.openxmlformats.org/drawingml/2006/main">
            <a:pPr algn="ctr">
              <a:defRPr sz="788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POSTER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748EB-6119-4B95-8644-B83F0D4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38250"/>
            <a:ext cx="28860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F95CA-B5B0-4DAD-A3B1-86DDE2AC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38250"/>
            <a:ext cx="2886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A24E1-3207-4A0A-A03D-AE69B1D8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1266825"/>
            <a:ext cx="27908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Objectives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6B73D-617A-461C-8028-E99639A5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430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F16CE-F552-4A39-81B1-D2567FBE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95425"/>
            <a:ext cx="2600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Design a hybrid robot architecture for a tour-guide 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5A5AC-7660-483E-9677-7EAFD973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16A50-3416-4167-AE8B-01265FEB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66875"/>
            <a:ext cx="2600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Integrate perception, planning, Nav2 execution, narration, and recovery.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81AFB-3BCA-4694-B2A9-E53A8C5B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885950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DB10F-9524-4086-BD19-B226BC59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914525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BDC6F-0175-4DB1-B639-C23ACEF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133600"/>
            <a:ext cx="590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60F97-57AE-46AE-93E4-3D35809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162175"/>
            <a:ext cx="533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4F252-2719-4B1E-9F3D-47126B41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2085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waypoint follower does not know when to narrate, wait, replan, or skip a blocked stop.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88C5E-D089-4F5E-BADA-4E680C21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505075"/>
            <a:ext cx="590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8BCF0-A063-4535-BDA4-2A08D2D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533650"/>
            <a:ext cx="533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D1929-A388-46CB-AA11-74E356CC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085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tour guide must look purposeful around people and changing furniture.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B9B3C-5BB3-4943-AD9F-FA5BF9F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876550"/>
            <a:ext cx="590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8F0EF-2833-4307-B9CD-54089871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05125"/>
            <a:ext cx="533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Approach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01B47-75BC-49E3-B580-0DD3209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2085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hybrid ROS 2 stack combines ArUco landmarks, a decayed world model, TSP-style planning, Nav2, and TTS.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3378A2-8C85-439B-8527-0A9CE21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248025"/>
            <a:ext cx="590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B7700-3D7A-46F6-9CBF-07598E63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76600"/>
            <a:ext cx="533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7FA9F-F705-4C47-8496-EB732309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085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executive selects recoveries for person blocking, moved furniture, closed doors, unreachable POIs, and unknown failures.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8F90C-22D6-4EE5-B2CA-F43F0AB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619500"/>
            <a:ext cx="590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195AF5-E315-4EB7-956C-939ED146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648075"/>
            <a:ext cx="533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C9555-CB70-4F65-88C4-86E68BD0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085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Mission-level reasoning can improve tour behavior without replacing Nav2.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E62D8B-8778-409B-905F-04FF8A2E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143375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F839A-C9EC-4B4E-9475-6EA7C41D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171950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BA46AD-76B2-4598-939E-347BA2B7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4577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444C55-FD95-476F-B51F-CAC01B38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10075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Motivation: indoor tour robots need navigation plus recognizable, human-facing behavior.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D71C23-5850-49CC-9A89-DBAA5971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772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FA69F7-17C7-487B-A363-E3932FBC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24400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Nature: a ROS 2 Python package that runs above TurtleBot 4 bringup and Nav2.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F40B52-5790-44F9-B757-E529C4EF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863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E703E7-95D8-4135-B7DE-6C6EB1B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38725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Scope: classroom-scale tours in REPF B4 using the stock OAK-D camera and LiDAR.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E38852-6E8E-49FB-B7B3-99F8A910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400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4C1143-1CFB-45F3-858A-DD1B7F8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30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Approach: deliberative POI ordering, executive state machine, reactive safety monitor.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6259B3-F417-43D9-8FB5-0473E3D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743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867C62-FB10-48B3-ACEE-07380F4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95950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Result overview: 8 ROS nodes, 3 launch paths, YAML-configured landmarks and POIs.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A67D5E-AEC2-4C80-9AA4-EE4F969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0579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BBB921-A6A1-4EDF-BAF0-54B138CE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10275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Conclusion preview: simple symbolic landmarks make the tour reliable and explainable.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5FE729-1759-4727-B617-4ED2B254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496050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3A1759-DDD4-450F-895C-2AF5D8F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524625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D5B999-FA42-4AEF-9D71-6E765310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62750"/>
            <a:ext cx="2733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design follows layered/hybrid robot-control ideas (Brooks), uses ROS 2 Jazzy and Nav2 for navigation, and uses OpenCV ArUco markers for robust symbol-to-description landmark recognition.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245C59-BD3A-4CCD-8230-D0E17C26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7572375"/>
            <a:ext cx="28860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E1EA3C-C582-4465-9E94-69B1DCF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7572375"/>
            <a:ext cx="2886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D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0022DB-FE63-441C-99FA-6960AE0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7600950"/>
            <a:ext cx="27908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This Is Different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5C47DF-A888-47EB-8AA8-9B654E6D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829550"/>
            <a:ext cx="2695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Nav2 still handles path planning and control; this project adds the mission layer: plan tour order, confirm arrivals with markers, narrate stops, and classify why navigation failed.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6A6DD1-400F-429F-AF88-88F9CEF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2382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6BD45-0715-4D1F-A71E-D7B2F59B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266825"/>
            <a:ext cx="529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Architecture and Data Flow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E61221-E410-477F-8487-AEC05C11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524000"/>
            <a:ext cx="5295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083CE9-BA68-464C-BDCE-0986F3C0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38300"/>
            <a:ext cx="1095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Perception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70B74A-CE47-44DE-94F1-6F84094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638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World + Planning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629F9B-7A65-475C-B854-626517E0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638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8F000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8F0000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4C87CC-89FA-44BC-88E9-EF2DD98A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EC4EFD-EB96-4CD0-A091-50617E89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OAK-D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RGB + camera_info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44BB52-49A1-4DDB-BEF2-F8BFBCDD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1028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0A0534-69AC-46AD-9CA7-8C0F49C3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33575"/>
            <a:ext cx="933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aruco_detector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OpenCV ArUco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4F3B0E-990B-4800-855F-8214F468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04629E-37E0-4ADD-94AA-2634A631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0025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/landmarks/detected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3ECCF4-0381-4B17-AEC5-DE82C4C7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52650"/>
            <a:ext cx="2381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523208-6FF3-4743-8DF5-F76368B3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52650"/>
            <a:ext cx="30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E64252-3353-4A1A-BB4A-9A5C6387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14625"/>
            <a:ext cx="85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4BE540-65A5-4041-93F2-58DD9945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LiDAR /scan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+ optional YOLO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FB00A7-6FE2-4AE4-ACFC-3576A0D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19375"/>
            <a:ext cx="1028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14ED159-27F3-404B-AE15-2B9C100C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67000"/>
            <a:ext cx="933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semantic_perception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people, furniture,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door gaps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B4C62-DC48-4489-A242-EB157D50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F9CD771-3DDE-452A-8149-CE6DC7ED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7177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/world/objects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F42854-01A5-430A-A562-26EF5AD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24175"/>
            <a:ext cx="2381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060219-2875-4069-A4C0-0B80334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24175"/>
            <a:ext cx="30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BD2880-6DBA-42F3-878F-03016935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90900"/>
            <a:ext cx="10287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7478FE3-88F3-4678-82C6-7C10B99C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38525"/>
            <a:ext cx="9334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world_model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half-life decay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RViz markers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AFB05A8-5569-4E53-BDD4-C63EBA6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52675"/>
            <a:ext cx="1333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919F47-EC54-4641-9DE1-0280C12B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133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3E13E37-218E-4754-A07E-ADDF033C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fuses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5682DB-84BA-4458-964A-5F6DBBD6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05225"/>
            <a:ext cx="85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5C59AD-7727-463A-9175-FC3B4BFC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pois.yaml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landmarks.yaml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params.yaml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8E64B0A-0473-4F7E-AA7F-A2F67118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741D255-8661-499F-9A50-BAB2E967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86175"/>
            <a:ext cx="933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tour_planner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nearest-neighbor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+ 2-opt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FD5C38-57D3-4552-BC39-63D61EA7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0530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E161665-239A-4EA4-A502-E714A6F6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35292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/tour/current_plan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D892AB-F618-47B3-8AD4-3C419883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81450"/>
            <a:ext cx="2381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0472A51-D9E6-4533-B419-B14E3F15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81450"/>
            <a:ext cx="30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997219F-3B35-4296-A257-D9636FA9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14650"/>
            <a:ext cx="1000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C11CF0-258B-4B92-A52F-3DC7268D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904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executive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state machine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failure classifier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CD11E10-6F92-42C6-BE23-43582818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90925"/>
            <a:ext cx="3905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10B939B-A058-4B4F-B276-A481660B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05325"/>
            <a:ext cx="3905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B0CBE40-E01A-4D93-837C-0C236998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76600"/>
            <a:ext cx="13335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350FEE-B9CB-4AEA-945C-6A99222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24050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5A171A-C1BF-4DB5-84E1-4618646F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71675"/>
            <a:ext cx="904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Nav2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NavigateToPose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FE65DD-5104-4666-967E-9F8420CB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43350"/>
            <a:ext cx="1000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58DE54-2FD2-401F-957E-A289BE87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904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narrator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TTS + terminal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5EB2707-AF41-4F61-B48D-54443946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76750"/>
            <a:ext cx="1000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C3D61F-728D-4759-A9B4-1BB93778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904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safety_monitor</a:t>
            </a:r>
          </a:p>
          <a:p xmlns:a="http://schemas.openxmlformats.org/drawingml/2006/main">
            <a:pPr algn="ctr">
              <a:defRPr sz="69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zero cmd_vel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3C7389D-72DD-4AE2-B18D-BA2E3567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33625"/>
            <a:ext cx="1333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250EA08-374D-4A4A-9DC6-54F5103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29025"/>
            <a:ext cx="1333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939F135-65B8-43AD-85C4-EBB6FB0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7175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goals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90196E-E6D7-4153-8347-AACD8EF5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5285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speech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28C254-1C83-4F4C-B4EB-51ED9FB0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1435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458D855-9FA2-47DD-9DFB-97A26E2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172075"/>
            <a:ext cx="529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B902B9D-08C1-4A09-9C73-B3D34D4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4102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DE222A6-BD75-42EB-8BF1-88A8CEA5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410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8233118-B0C7-4B3C-9A9E-783C44E5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438775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 Print markers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2BA7E2A-D42D-445B-A7C3-3413F7B1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483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4x4 ArUco ids match landmark descriptions.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09C5FAF-BBD8-43AA-AB9A-AB9E4376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102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F4FC3E9-3B21-4CD1-BFF2-44FB43F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10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A996677-3B8C-48EA-A55B-35480343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38775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 Map POIs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3CE3F82-59FD-4651-B601-5753813A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483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Replace placeholder x, y, yaw with map-frame poses.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757F7C4-DB3D-4D1A-9866-DDD9169F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4102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9AC0595-E45B-4705-957E-84F88898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410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7FBFC87-7CB4-4A9A-9BAB-853368A6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438775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 Plan tour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CC5C5F2-5865-4091-93CE-CC014F1C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6483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Nearest-neighbor route refined with 2-opt.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F285542-DD1B-41DF-AB37-9CF22835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102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FB04A88-3348-492E-B04E-A69AAED6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10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334C19B-B94A-4C4A-9DDC-C0BCE625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38775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 Execute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D765559-DCAF-466E-9BC5-1FDDBDBE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6483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Nav2 drives; ArUco can confirm arrival early.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F5CB3AD-6DD4-415D-BC6E-ADBAA402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1020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3BBC63-7265-4A87-AE0A-229B7C20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10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67898E8-CD47-4045-8C9F-CD3A670E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438775"/>
            <a:ext cx="876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 Recover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098A8E6-6167-44C8-AEA9-33390DED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483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World snapshot classifies failure and chooses action.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1EFCC17-F50D-43B3-95EC-5FDC66FB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3246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9ED1CDF-46DB-4AF2-B5F3-5AC10A44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353175"/>
            <a:ext cx="529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Failure Classifier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968DDE9-CAE4-42B1-B51E-FA1E3F07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29400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0BA9DF1-5410-4ED0-BC67-6B0B7721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657975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World signal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0FFD21E-6D55-4F05-BB54-67BCAFB9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629400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0839E9D-7E6F-4A72-910F-1A52BA46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6579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55D7B9E-B27B-44D8-AE1F-06FCBD5D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629400"/>
            <a:ext cx="1971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DA3CCD9-F252-42B1-8877-2D5A7D81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657975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Recovery behavior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B52B226-E1DC-448B-A3B6-D15E206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905625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FBD5200-3D24-4BEA-A9EF-64719D8D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934200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 within 1.5 m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45B495C-CD9A-4F23-831E-D1ABC3F0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905625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6F407EC-CFD9-442E-BE3A-041D4F9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9342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PERSON_BLOCKING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1994AF2-2AAC-4AA0-A689-0A0F8A8B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905625"/>
            <a:ext cx="1971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A6A93BA-FDB4-4842-93AE-C585FFCF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9342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Say "Excuse me", wait, retry.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D778370-0344-4BAA-A55A-565120D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81850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15EE3AC-4614-4C81-B5C8-2DE7ED01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7210425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New furniture-class object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9B8A34E-669C-411C-96F8-E75EB32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7181850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A92D484-8E8C-4AA2-B26A-84CDACB2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21042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FURNITURE_MOVED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9AD3836-90B2-473C-825B-5AF6CA0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81850"/>
            <a:ext cx="1971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DB794BA-0744-45CF-8E45-5DCCCEA6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210425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Request replan from current pose.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691F55A-CBF9-4652-8378-3665BB2E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458075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DE7A5A7-CAF8-44DD-9121-7B940478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7486650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 door-open hint after retries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43027A4-DA3D-41E8-A2CE-C9697126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7458075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5C383FF-B652-4C0C-9D3A-16777D5B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866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DOOR_CLOSED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B642EBB-B75A-4812-B1B2-D97752E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458075"/>
            <a:ext cx="1971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6DC12B4-5D64-48F8-A4E3-BC050C9E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4866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Drop POI and narrate skip.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0C4251B-01B2-48CE-B369-B8C83CBD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734300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5788055-21AA-4681-9125-44CE87D7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7762875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Retries exhausted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E03AD59-1CD6-42EF-8582-F16E50E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7734300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4503F78-66F8-463E-9763-0236381C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7628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POI_UNREACHABLE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1C2288A-3831-4FDA-AA0B-F8EF9B56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734300"/>
            <a:ext cx="1971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C2109B6-336F-437A-9BD7-252C6817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7762875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Drop POI and continue tour.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E78B0B3-A5BA-40BD-9B2D-14A40C0D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10525"/>
            <a:ext cx="1762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404C227-20E0-4830-9953-581BEC0F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8039100"/>
            <a:ext cx="1704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 clear signal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DDE5CC5-1A47-4563-B9E2-1A98BD83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8010525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E8437E9-DCF1-46F0-BDF9-90CA37AB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80391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0A3CA1F-2AF5-413A-A3CD-22921BBA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8010525"/>
            <a:ext cx="1971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624A704-076F-497A-AE28-F8FB014F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80391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Pause briefly and retry once.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DA3F7B1-68D5-4450-AB2C-D1033A7D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29400"/>
            <a:ext cx="51625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BBD4070-36BB-49A3-A266-7F994EE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8458200"/>
            <a:ext cx="5295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7EE77D9-EABA-48BA-A652-973F06D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8458200"/>
            <a:ext cx="529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94FB1F5-FA3A-46B9-8B20-5DE0E99D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8486775"/>
            <a:ext cx="5200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Appendix / Reusable Code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2775C26-A3B0-4D3A-B121-D60EC6F5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8677275"/>
            <a:ext cx="510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54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Reusable by other teams: aruco_detector, landmark_announcer, tour_planner, plus YAML schemas for landmarks and POIs. Source, launch files, and run instructions are in README and appendices.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66062EF-68B8-44F1-9B12-20C5EB46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382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E1A0DCD-0636-4D10-8074-7EB29ABF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668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2831725-6E2E-4D1C-B3E3-A19D645D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543050"/>
            <a:ext cx="1543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107DF7-1409-4AD9-BB3D-08D2545F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7162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Implemented evidence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BAC7FD0-75D5-4769-98B7-A70DD96B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543050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E06BA8C-0C91-4C14-857F-73F7D62D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571625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C2841A6-5204-47BC-A4C9-00918A1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838325"/>
            <a:ext cx="1543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9F32662-1CAB-47C9-AEDB-791E1357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669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ROS 2 nodes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0484AE9-7668-403E-932C-614FA9B3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38325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1676831-E49A-412E-8D39-34AF68D1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669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runtime nodes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BE0FFF9-1263-4008-8CFE-089AA43D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33600"/>
            <a:ext cx="1543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7C968DD-5C03-40A9-84E8-65F35452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621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paths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A5451F7-E31D-4F7D-A936-13A1C94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133600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7231B60-F921-410B-8983-0D85CD46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62175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full, sim wrapper, perception-only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F40B130-FFB1-4F74-AC00-B9935A28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28875"/>
            <a:ext cx="1543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2C2B6AA-258F-47F4-8AE6-6B41953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Tour data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53986AE-F762-4BC0-841B-8140E14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28875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235A540-FD0E-4C98-97CD-FADEBC6B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574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configured POIs and 4 landmark records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25E981D-B112-4446-A162-A24A7FE7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24150"/>
            <a:ext cx="1543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1BD6124-1277-47BE-9853-3DDF1CFA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5272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Recovery classes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77245E0-F5FE-4772-B2CD-9C6C2714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24150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6923836-DB2D-4949-8975-0763E76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52725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 mission-level outcomes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8673B91-5A0A-403E-867E-B48699EF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19425"/>
            <a:ext cx="1543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E7BFC0A-C5E5-42A6-A216-BF9F66B8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Syntax check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53F0454-C63A-4B56-B6FC-BED09EA1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19425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B302108-74B0-4704-9D06-EAD196D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480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all node files passed py_compile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FE833B7-B255-4AFE-990D-8ACC6C27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14700"/>
            <a:ext cx="1543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27D2226-792F-4086-85B2-524A39D5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432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Demo note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1913CE0-A204-483B-AE1D-84A752A1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314700"/>
            <a:ext cx="1790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00000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4004ECE-3E6F-4E2C-A821-DDC853C7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43275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real robot metrics still need final run data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8E19FB6-2914-44D2-85B1-4E497B26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543050"/>
            <a:ext cx="333375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CE3C49A-FF66-4F83-B19D-6237A20C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052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AC4E97B-A451-4D28-831B-409EC61D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33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Demonstration Behavior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F4C2600-268B-4F61-B100-C07DBA79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386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107BCF0-679A-4241-89E1-894EC8DB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990975"/>
            <a:ext cx="3181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ArUco-only path: teleoperate near a marker; robot announces the matching landmark with dwell and cooldown.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D2099FA-40E6-4AF7-A103-A2B6321F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86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F84AFCA-EA51-45DF-A4F2-36EECC91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38650"/>
            <a:ext cx="3181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Full tour path: planner orders POIs; executive sends Nav2 goals; landmarks confirm arrival; narrator speaks descriptions.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FA0A818-A526-4098-8233-3BE72F7B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339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7A3740A-8611-45C4-AF9B-0D9D6879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86325"/>
            <a:ext cx="3181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Obstacle path: failures are interpreted as person blocking, moved furniture, closed door, unreachable POI, or unknown.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92523ED-2FCC-49AA-BFF6-153582B6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467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9E85211-C6D1-4C14-9CD2-E651BAA1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4959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47E4897-4934-45E0-85F5-9989C18E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34050"/>
            <a:ext cx="32766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Notable points: the system adds symbolic tour context above Nav2 instead of replacing navigation. This matched expectations: ArUco markers give reliable, inspectable arrival evidence, and the executive can make recoveries legible to an audience. Compared with generic layered control, the layers here are mission-specific: tour order, landmark confirmation, narration, and recovery are explicit.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15E3496-A816-4A61-940C-1110A4C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6865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AA3A05F-6BE1-452A-8530-93A134C5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7151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Conclusions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D3F8A45-188D-44AA-8630-17950258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70104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C4B14BC-DCFB-4461-8397-CDA44A3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6962775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Hybrid design is justified: deliberative planning, executive recovery, and reactive safety operate on different time scales.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E33BAD6-78C4-403C-8671-F598A801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7429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0461138-83E7-45D4-A5B8-6685C584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7381875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small symbolic landmark database is enough to make narration data-driven and reliable in a constrained tour space.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AE1961A-69E9-404A-B980-319D80B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9343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BF1B56F-6D26-47FF-BF2B-517DC4C5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962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B05E047-9CC2-45C7-B764-CB6901A1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82010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 final run metrics; track visited POIs during replans; ignore stale Nav2 cancellation results after marker-confirmed arrival; improve camera-LiDAR fusion; add richer visitor interaction.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6358579-CF11-4C1E-90C3-0B637894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7058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F8A69E2-F8FA-41DE-BC97-0DCEB5C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8772525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51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1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Bibliography: Brooks 1986; Garrido-Jurado et al. 2014; ROS 2 Jazzy docs; Nav2 API docs; OpenCV ArUco docs; TurtleBot 4 user manual.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5D3C7E4-B058-4198-8CC0-34A7DEE7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048750"/>
            <a:ext cx="11915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711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2026-05-05T07:53:38.2970000Z</dcterms:created>
  <dcterms:modified xsi:type="dcterms:W3CDTF">2026-05-05T07:53:38.2980000Z</dcterms:modified>
</coreProperties>
</file>